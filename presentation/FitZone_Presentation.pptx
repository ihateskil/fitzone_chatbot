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9D353"/>
                </a:solidFill>
                <a:latin typeface="Inter"/>
              </a:defRPr>
            </a:pPr>
            <a:r>
              <a:t>FITZONE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Inter"/>
              </a:defRPr>
            </a:pPr>
            <a:r>
              <a:t>Integrated Online Fitness &amp; Coaching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Faculty of Computers &amp;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Inter"/>
              </a:defRPr>
            </a:pPr>
            <a:r>
              <a:t>Assiut National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Inter"/>
              </a:defRPr>
            </a:pPr>
            <a:r>
              <a:t>Supervisors: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Dr. Amal AbdelAzim  ·  Eng. Nehad AbdelRahman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Inter"/>
              </a:defRPr>
            </a:pPr>
            <a:r>
              <a:t>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09728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9D353"/>
                </a:solidFill>
                <a:latin typeface="Inter"/>
              </a:defRPr>
            </a:pPr>
            <a:r>
              <a:t>TEAM MEMBERS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FFFFFF"/>
                </a:solidFill>
                <a:latin typeface="Inter"/>
              </a:defRPr>
            </a:pPr>
            <a:r>
              <a:t>Mohamed Osamy Mohamed — Backend Architecture &amp; Proposal Engine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FFFFFF"/>
                </a:solidFill>
                <a:latin typeface="Inter"/>
              </a:defRPr>
            </a:pPr>
            <a:r>
              <a:t>Ahmed Sayed Khafaga — Authentication &amp; Security Layer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FFFFFF"/>
                </a:solidFill>
                <a:latin typeface="Inter"/>
              </a:defRPr>
            </a:pPr>
            <a:r>
              <a:t>Esraa Khamis Adwi — Nutrition Plan System (Backend)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FFFFFF"/>
                </a:solidFill>
                <a:latin typeface="Inter"/>
              </a:defRPr>
            </a:pPr>
            <a:r>
              <a:t>Ahmed AbdelFattah Saad — Workout Program Builder (Backend)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FFFFFF"/>
                </a:solidFill>
                <a:latin typeface="Inter"/>
              </a:defRPr>
            </a:pPr>
            <a:r>
              <a:t>Khaled Ayman Alwan — Frontend — Coach Portal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FFFFFF"/>
                </a:solidFill>
                <a:latin typeface="Inter"/>
              </a:defRPr>
            </a:pPr>
            <a:r>
              <a:t>Mohamed Akram AbdelLatif — Frontend — Trainee Portal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FFFFFF"/>
                </a:solidFill>
                <a:latin typeface="Inter"/>
              </a:defRPr>
            </a:pPr>
            <a:r>
              <a:t>Kholoud Ibrahim Ahmed — Frontend — Admin Portal &amp; UI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FFFFFF"/>
                </a:solidFill>
                <a:latin typeface="Inter"/>
              </a:defRPr>
            </a:pPr>
            <a:r>
              <a:t>Khaled Ibrahim AbdelMonem — SignalR Chat &amp; Payments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Inter"/>
              </a:defRPr>
            </a:pPr>
            <a:r>
              <a:t>Why existing fitness platforms fall short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737360"/>
            <a:ext cx="411480" cy="411480"/>
          </a:xfrm>
          <a:prstGeom prst="ellipse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922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0E10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55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Fragmented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No single platform connects trainees, coaches, and administrators — users juggle 3-4 separate tools for workouts, nutrition, payments, and communication.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5234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0E10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15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Manual Nutrition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Nutrition logging is tedious, error-prone, and lacks intelligent synchronization with training demands and metabolic calculations.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1246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0E10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75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No Unified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77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Coaches manage clients across spreadsheets, messaging apps, and disconnected billing systems — no centralized dashboard exists.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617720"/>
            <a:ext cx="411480" cy="411480"/>
          </a:xfrm>
          <a:prstGeom prst="ellipse">
            <a:avLst/>
          </a:prstGeom>
          <a:solidFill>
            <a:srgbClr val="E06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7258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0E10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36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Disconnected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37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Subscription billing, coach commissions, and session fees operate in silos with no integration to the coaching workflow itself.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577840"/>
            <a:ext cx="411480" cy="41148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6327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0E10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596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No Feedback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97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Trainees receive static plans with no mechanism for coaches to assess progress, adjust macros, or unlock the next training week intelligently.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Our Solution — Three Role-Based Portals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Inter"/>
              </a:defRPr>
            </a:pPr>
            <a:r>
              <a:t>One platform, three perspectives — unified by a shared data layer and business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41148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" cy="274320"/>
          </a:xfrm>
          <a:prstGeom prst="roundRect">
            <a:avLst>
              <a:gd name="adj" fmla="val 5000"/>
            </a:avLst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Admin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Inter"/>
              </a:defRPr>
            </a:pPr>
            <a:r>
              <a:t>System-wide oversight, platform analytics, coach &amp; trainee management, payment reconciliation, content libraries, and audit logging.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566160" cy="41148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1097280" cy="274320"/>
          </a:xfrm>
          <a:prstGeom prst="roundRect">
            <a:avLst>
              <a:gd name="adj" fmla="val 5000"/>
            </a:avLst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4708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COACH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Coach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Inter"/>
              </a:defRPr>
            </a:pPr>
            <a:r>
              <a:t>Client roster, workout program builder, nutrition plan designer, check-in review, proposal approval, real-time chat, and commission tracking.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566160" cy="41148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1828800"/>
            <a:ext cx="1426464" cy="274320"/>
          </a:xfrm>
          <a:prstGeom prst="roundRect">
            <a:avLst>
              <a:gd name="adj" fmla="val 5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847088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TRAINEE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Trainee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9260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Inter"/>
              </a:defRPr>
            </a:pPr>
            <a:r>
              <a:t>Personalized workout &amp; nutrition plans, daily check-ins, progress tracking, direct messaging, subscription management, and week-unlock 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Market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Inter"/>
              </a:defRPr>
            </a:pPr>
            <a:r>
              <a:t>Competitor landscape and our unique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2743200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MyFitnessPal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Trainerize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TrueCoach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9D353"/>
                </a:solidFill>
                <a:latin typeface="Inter"/>
              </a:defRPr>
            </a:pPr>
            <a:r>
              <a:t>FitZone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Inter"/>
              </a:defRPr>
            </a:pPr>
            <a:r>
              <a:t>Role-Based Portals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9D3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23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Inter"/>
              </a:defRPr>
            </a:pPr>
            <a:r>
              <a:t>AI Proposal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9D3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Inter"/>
              </a:defRPr>
            </a:pPr>
            <a:r>
              <a:t>Nutrition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9D3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9D3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246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Inter"/>
              </a:defRPr>
            </a:pPr>
            <a:r>
              <a:t>Built-in 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9D3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9D3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9D3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657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Inter"/>
              </a:defRPr>
            </a:pPr>
            <a:r>
              <a:t>Real-Time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9D3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069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Inter"/>
              </a:defRPr>
            </a:pPr>
            <a:r>
              <a:t>Week-Unlock 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069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069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069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069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9D3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480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Inter"/>
              </a:defRPr>
            </a:pPr>
            <a:r>
              <a:t>Unified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480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9F27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480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9D3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480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9D3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480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9D3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303520"/>
            <a:ext cx="11064240" cy="109728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4406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9D353"/>
                </a:solidFill>
                <a:latin typeface="Inter"/>
              </a:defRPr>
            </a:pPr>
            <a:r>
              <a:t>Unique Value Proposition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AAAAAA"/>
                </a:solidFill>
                <a:latin typeface="Inter"/>
              </a:defRPr>
            </a:pPr>
            <a:r>
              <a:t>FitZone is the only platform combining role-based portals, an AI-driven proposal engine, and an integrated payment ecosystem in a single platform. Where competitors offer point solutions, FitZone delivers an end-to-end coaching lifecycle — from enrollment and assessment through week-unlock progression and performance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Target Audience —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Inter"/>
              </a:defRPr>
            </a:pPr>
            <a:r>
              <a:t>Three user archetypes driving every design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4572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426464" cy="274320"/>
          </a:xfrm>
          <a:prstGeom prst="roundRect">
            <a:avLst>
              <a:gd name="adj" fmla="val 5000"/>
            </a:avLst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Sara — Platform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30, Gym Chain Operations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Manages 12 coaches and 200+ trainees across 3 locations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Needs payment reconciliation, content library control, user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Pain: Spreadsheets for everything — no unified oversight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566160" cy="4572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828800"/>
            <a:ext cx="1426464" cy="274320"/>
          </a:xfrm>
          <a:prstGeom prst="roundRect">
            <a:avLst>
              <a:gd name="adj" fmla="val 5000"/>
            </a:avLst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847088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PERSONA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Ahmed — Fitness Coach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35, Certified Personal Trainer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Works with 25 active clients, creates custom programs weekly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Needs workout builder, nutrition planner, check-in reviews, commission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Pain: Juggles WhatsApp, Excel, and separate billing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645920"/>
            <a:ext cx="3566160" cy="4572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1828800"/>
            <a:ext cx="1426464" cy="274320"/>
          </a:xfrm>
          <a:prstGeom prst="roundRect">
            <a:avLst>
              <a:gd name="adj" fmla="val 5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847088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PERSONA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Fatima — Trainee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24, Software Engineer, fitness enthusiast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Follows a structured training program with macro targets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Needs daily workouts, meal guidance, progress photos, direct coach 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Pain: Previous apps had generic plans — no personalization or coach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Core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155448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89888"/>
            <a:ext cx="932688" cy="274320"/>
          </a:xfrm>
          <a:prstGeom prst="roundRect">
            <a:avLst>
              <a:gd name="adj" fmla="val 5000"/>
            </a:avLst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JWT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Secure login with role-based access control across all three portals.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474720" cy="155448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389888"/>
            <a:ext cx="768096" cy="274320"/>
          </a:xfrm>
          <a:prstGeom prst="roundRect">
            <a:avLst>
              <a:gd name="adj" fmla="val 5000"/>
            </a:avLst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08176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PAY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Stripe 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57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Subscription billing, coach commissions, and payout management integrated end-to-end.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80160"/>
            <a:ext cx="3474720" cy="155448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1389888"/>
            <a:ext cx="1426464" cy="274320"/>
          </a:xfrm>
          <a:prstGeom prst="roundRect">
            <a:avLst>
              <a:gd name="adj" fmla="val 5000"/>
            </a:avLst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08176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WORKOUT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Workout Builder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057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Drag-and-drop program construction with exercise libraries, sets/reps/RPE configuration.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08960"/>
            <a:ext cx="3474720" cy="155448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218688"/>
            <a:ext cx="1755648" cy="274320"/>
          </a:xfrm>
          <a:prstGeom prst="roundRect">
            <a:avLst>
              <a:gd name="adj" fmla="val 5000"/>
            </a:avLst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36976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NUTRITION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Nutrition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862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Automated macro calculation from TDEE, coach-approved proposals, weekly propagation.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108960"/>
            <a:ext cx="3474720" cy="155448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34840" y="3218688"/>
            <a:ext cx="603503" cy="274320"/>
          </a:xfrm>
          <a:prstGeom prst="roundRect">
            <a:avLst>
              <a:gd name="adj" fmla="val 5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236976"/>
            <a:ext cx="51206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AI Proposal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8862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Check-in analysis → TDEE calc → macro proposal → coach approval → auto-apply.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108960"/>
            <a:ext cx="3474720" cy="155448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83880" y="3218688"/>
            <a:ext cx="932688" cy="274320"/>
          </a:xfrm>
          <a:prstGeom prst="roundRect">
            <a:avLst>
              <a:gd name="adj" fmla="val 5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236976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SignalR Chat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38862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Real-time messaging between trainees and coaches with read receipts and notifications.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937760"/>
            <a:ext cx="3474720" cy="155448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5800" y="5047488"/>
            <a:ext cx="932688" cy="274320"/>
          </a:xfrm>
          <a:prstGeom prst="roundRect">
            <a:avLst>
              <a:gd name="adj" fmla="val 5000"/>
            </a:avLst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065776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WEEK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Week Unlock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715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Coaches review check-in data before granting access to the next training week.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937760"/>
            <a:ext cx="3474720" cy="155448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34840" y="5047488"/>
            <a:ext cx="932688" cy="274320"/>
          </a:xfrm>
          <a:prstGeom prst="roundRect">
            <a:avLst>
              <a:gd name="adj" fmla="val 5000"/>
            </a:avLst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5065776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LIBS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Content Libraries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5715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Admin-managed exercise, meal, and formula reference libraries used across all programs.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4937760"/>
            <a:ext cx="3474720" cy="155448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83880" y="5047488"/>
            <a:ext cx="1097280" cy="274320"/>
          </a:xfrm>
          <a:prstGeom prst="roundRect">
            <a:avLst>
              <a:gd name="adj" fmla="val 5000"/>
            </a:avLst>
          </a:prstGeom>
          <a:solidFill>
            <a:srgbClr val="E06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506577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TRACK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Progress Tracking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5715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Weight logs, progress photos, performance metrics, and visual trend charts per trainee.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AI Proposal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Inter"/>
              </a:defRPr>
            </a:pPr>
            <a:r>
              <a:t>Automated macro proposal workflow — from check-in to coach approval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828800" cy="18288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Trainee</a:t>
            </a:r>
            <a:br/>
            <a:r>
              <a:t>Check-In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560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9F27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828800"/>
            <a:ext cx="1828800" cy="18288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2860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TDEE</a:t>
            </a:r>
            <a:br/>
            <a:r>
              <a:t>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60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9D353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828800"/>
            <a:ext cx="1828800" cy="18288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2860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AI</a:t>
            </a:r>
            <a:br/>
            <a:r>
              <a:t>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560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8ADD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828800"/>
            <a:ext cx="1828800" cy="18288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22860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Coach</a:t>
            </a:r>
            <a:br/>
            <a: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560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9F27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1828800"/>
            <a:ext cx="1828800" cy="18288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2860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Auto-Apply</a:t>
            </a:r>
            <a:br/>
            <a:r>
              <a:t>Macros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10698480" cy="2286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29768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9D353"/>
                </a:solidFill>
                <a:latin typeface="Inter"/>
              </a:defRPr>
            </a:pPr>
            <a:r>
              <a:t>How It Works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AAAAAA"/>
                </a:solidFill>
                <a:latin typeface="Inter"/>
              </a:defRPr>
            </a:pPr>
            <a:r>
              <a:t>1. Trainee submits a daily check-in with weight, energy level, sleep, and adherence rating.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AAAAAA"/>
                </a:solidFill>
                <a:latin typeface="Inter"/>
              </a:defRPr>
            </a:pPr>
            <a:r>
              <a:t>2. The engine calculates TDEE using the Mifflin-St Jeor formula × activity multiplier from current week volume.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AAAAAA"/>
                </a:solidFill>
                <a:latin typeface="Inter"/>
              </a:defRPr>
            </a:pPr>
            <a:r>
              <a:t>3. The AI proposes new macros (protein, carbs, fat) ± calorie surplus/deficit aligned to the trainee's goal (cut/bulk/recomp).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AAAAAA"/>
                </a:solidFill>
                <a:latin typeface="Inter"/>
              </a:defRPr>
            </a:pPr>
            <a:r>
              <a:t>4. The coach receives the proposal in their dashboard — one tap to approve, adjust, or reject with notes.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AAAAAA"/>
                </a:solidFill>
                <a:latin typeface="Inter"/>
              </a:defRPr>
            </a:pPr>
            <a:r>
              <a:t>5. Approved macros propagate automatically to the trainee's nutrition plan for the upcoming week.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User Journey — The Coaching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Inter"/>
              </a:defRPr>
            </a:pPr>
            <a:r>
              <a:t>From registration to weekly progression — a continuous feedback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74320"/>
            <a:ext cx="1828800" cy="12801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15000" y="91440"/>
            <a:ext cx="457200" cy="457200"/>
          </a:xfrm>
          <a:prstGeom prst="ellipse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146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0E10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594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8686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Inter"/>
              </a:defRPr>
            </a:pPr>
            <a:r>
              <a:t>Trainee signs up,</a:t>
            </a:r>
            <a:br/>
            <a:r>
              <a:t>selects a coach,</a:t>
            </a:r>
            <a:br/>
            <a:r>
              <a:t>chooses a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6502" y="1554480"/>
            <a:ext cx="1828800" cy="12801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32302" y="1371600"/>
            <a:ext cx="457200" cy="4572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2302" y="1426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0E10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7942" y="1874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Enroll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7942" y="21488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Inter"/>
              </a:defRPr>
            </a:pPr>
            <a:r>
              <a:t>Coach assigns</a:t>
            </a:r>
            <a:br/>
            <a:r>
              <a:t>initial programs</a:t>
            </a:r>
            <a:br/>
            <a:r>
              <a:t>&amp; nutrition targets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6502" y="4114800"/>
            <a:ext cx="1828800" cy="12801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32302" y="3931920"/>
            <a:ext cx="457200" cy="457200"/>
          </a:xfrm>
          <a:prstGeom prst="ellipse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2302" y="39867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0E10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7942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7942" y="4709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Inter"/>
              </a:defRPr>
            </a:pPr>
            <a:r>
              <a:t>Trainee follows</a:t>
            </a:r>
            <a:br/>
            <a:r>
              <a:t>workouts, logs</a:t>
            </a:r>
            <a:br/>
            <a:r>
              <a:t>check-ins daily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5394960"/>
            <a:ext cx="1828800" cy="12801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5000" y="5212080"/>
            <a:ext cx="457200" cy="457200"/>
          </a:xfrm>
          <a:prstGeom prst="ellipse">
            <a:avLst/>
          </a:prstGeom>
          <a:solidFill>
            <a:srgbClr val="E06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52669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0E10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715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Check-In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9893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Inter"/>
              </a:defRPr>
            </a:pPr>
            <a:r>
              <a:t>Weight, energy,</a:t>
            </a:r>
            <a:br/>
            <a:r>
              <a:t>adherence data</a:t>
            </a:r>
            <a:br/>
            <a:r>
              <a:t>sent to coach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11897" y="4114800"/>
            <a:ext cx="1828800" cy="12801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97697" y="3931920"/>
            <a:ext cx="457200" cy="45720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7697" y="39867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0E10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3337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AI Proposes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3337" y="4709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Inter"/>
              </a:defRPr>
            </a:pPr>
            <a:r>
              <a:t>Engine generates</a:t>
            </a:r>
            <a:br/>
            <a:r>
              <a:t>macro adjustments</a:t>
            </a:r>
            <a:br/>
            <a:r>
              <a:t>for coach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1897" y="1554480"/>
            <a:ext cx="1828800" cy="12801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97697" y="1371600"/>
            <a:ext cx="457200" cy="457200"/>
          </a:xfrm>
          <a:prstGeom prst="ellipse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7697" y="1426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0E10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3337" y="1874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Next Week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3337" y="21488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Inter"/>
              </a:defRPr>
            </a:pPr>
            <a:r>
              <a:t>Coach approves →</a:t>
            </a:r>
            <a:br/>
            <a:r>
              <a:t>week unlocks →</a:t>
            </a:r>
            <a:br/>
            <a:r>
              <a:t>cycle repeats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Inter"/>
              </a:defRPr>
            </a:pPr>
            <a:r>
              <a:t>Three-tier architecture — modern, scalable, and secure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4572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36975" cy="274320"/>
          </a:xfrm>
          <a:prstGeom prst="roundRect">
            <a:avLst>
              <a:gd name="adj" fmla="val 5000"/>
            </a:avLst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3145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Inter"/>
              </a:defRPr>
            </a:pPr>
            <a:r>
              <a:t>React.js · TypeScript · Tailwind CSS · shadcn/ui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• Single-page application with role-based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• Responsive design — desktop-first with mobile adaptation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• Real-time chat via SignalR JavaScript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• JWT stored in HttpOnly cookies for XSS protection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566160" cy="4572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828800"/>
            <a:ext cx="3072384" cy="274320"/>
          </a:xfrm>
          <a:prstGeom prst="roundRect">
            <a:avLst>
              <a:gd name="adj" fmla="val 5000"/>
            </a:avLst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847088"/>
            <a:ext cx="2980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APPLICATION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Inter"/>
              </a:defRPr>
            </a:pPr>
            <a:r>
              <a:t>ASP.NET Core 8 · C# · Entity Framework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• RESTful API with JWT authentication and role-based authorization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• SignalR hubs for real-time messaging and 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• Stripe API integration for subscription and commission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• AI proposal engine — server-side TDEE and macro computation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645920"/>
            <a:ext cx="3566160" cy="4572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1828800"/>
            <a:ext cx="1920239" cy="274320"/>
          </a:xfrm>
          <a:prstGeom prst="roundRect">
            <a:avLst>
              <a:gd name="adj" fmla="val 5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847088"/>
            <a:ext cx="18287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DATA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Inter"/>
              </a:defRPr>
            </a:pPr>
            <a:r>
              <a:t>SQL Server · Azure SQL · EF Core Migrations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• Normalized relational schema with 20+ entities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• Parameterized queries preventing SQL injection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• Health data encrypted at rest and isolated per tenant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• Migrations for schema versioning and rollback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Inter"/>
              </a:defRPr>
            </a:pPr>
            <a:r>
              <a:t>Protecting user data at every layer of the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21945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55648"/>
            <a:ext cx="1591056" cy="274320"/>
          </a:xfrm>
          <a:prstGeom prst="roundRect">
            <a:avLst>
              <a:gd name="adj" fmla="val 5000"/>
            </a:avLst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73936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JWT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Stateless tokens with configurable expiry. Role claims (Admin, Coach, Trainee) enforced at every endpoint via custom authorization policies.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566160" cy="21945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755648"/>
            <a:ext cx="1591056" cy="274320"/>
          </a:xfrm>
          <a:prstGeom prst="roundRect">
            <a:avLst>
              <a:gd name="adj" fmla="val 5000"/>
            </a:avLst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73936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Role-Based 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Three distinct RBAC roles mapped to portal routes, API endpoints, and data visibility. Coaches see only their clients; trainees see only their own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566160" cy="21945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1755648"/>
            <a:ext cx="1591056" cy="274320"/>
          </a:xfrm>
          <a:prstGeom prst="roundRect">
            <a:avLst>
              <a:gd name="adj" fmla="val 5000"/>
            </a:avLst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773936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HTTPS Everywhere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60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All communication encrypted via TLS 1.3. HSTS headers prevent protocol downgrade attacks in production.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14800"/>
            <a:ext cx="3566160" cy="21945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224528"/>
            <a:ext cx="1591056" cy="274320"/>
          </a:xfrm>
          <a:prstGeom prst="roundRect">
            <a:avLst>
              <a:gd name="adj" fmla="val 5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42816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Stripe PCI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All payment processing delegated to Stripe Elements. No raw card data touches our servers — PCI Scope is reduced to SAQ 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114800"/>
            <a:ext cx="3566160" cy="21945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0" y="4224528"/>
            <a:ext cx="1591056" cy="274320"/>
          </a:xfrm>
          <a:prstGeom prst="roundRect">
            <a:avLst>
              <a:gd name="adj" fmla="val 5000"/>
            </a:avLst>
          </a:prstGeom>
          <a:solidFill>
            <a:srgbClr val="E06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242816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17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Parameterized Queries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Entity Framework Core generates parameterized SQL — eliminating SQL injection risk across all data access layers.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114800"/>
            <a:ext cx="3566160" cy="21945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0" y="4224528"/>
            <a:ext cx="1591056" cy="274320"/>
          </a:xfrm>
          <a:prstGeom prst="roundRect">
            <a:avLst>
              <a:gd name="adj" fmla="val 5000"/>
            </a:avLst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4242816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617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Health Data Isolation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Personally identifiable information and health metrics encrypted at rest using AES-256. Trainees can request data export or deletion.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Inter"/>
              </a:defRPr>
            </a:pPr>
            <a:r>
              <a:t>Comprehensive validation across all system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64240" cy="8229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55648"/>
            <a:ext cx="1426464" cy="274320"/>
          </a:xfrm>
          <a:prstGeom prst="roundRect">
            <a:avLst>
              <a:gd name="adj" fmla="val 5000"/>
            </a:avLst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73936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POSTMAN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API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Postman collection with 80+ test cases covering all endpoints. Automated newman runs in CI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11064240" cy="8229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15768"/>
            <a:ext cx="1097280" cy="274320"/>
          </a:xfrm>
          <a:prstGeom prst="roundRect">
            <a:avLst>
              <a:gd name="adj" fmla="val 5000"/>
            </a:avLst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340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xUNIT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Business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xUnit tests for TDEE calculation, macro propagation, week-unlock rules, and commission arithmetic.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60"/>
            <a:ext cx="11064240" cy="8229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675888"/>
            <a:ext cx="1261872" cy="274320"/>
          </a:xfrm>
          <a:prstGeom prst="roundRect">
            <a:avLst>
              <a:gd name="adj" fmla="val 5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94176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STRIPE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Payment Sandbox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Stripe test mode with 50+ transaction scenarios — subscriptions, prorations, refunds, commission payouts.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26280"/>
            <a:ext cx="11064240" cy="8229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636008"/>
            <a:ext cx="1426464" cy="274320"/>
          </a:xfrm>
          <a:prstGeom prst="roundRect">
            <a:avLst>
              <a:gd name="adj" fmla="val 5000"/>
            </a:avLst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54296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SIGNALR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617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SignalR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892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Multi-client connection tests using SignalR's in-memory backplane. Latency under 200ms at 50 concurrent connections.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11064240" cy="82296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5596128"/>
            <a:ext cx="768096" cy="274320"/>
          </a:xfrm>
          <a:prstGeom prst="roundRect">
            <a:avLst>
              <a:gd name="adj" fmla="val 5000"/>
            </a:avLst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14416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E2E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End-to-End Simulation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nter"/>
              </a:defRPr>
            </a:pPr>
            <a:r>
              <a:t>Full 4-week coaching cycle simulated with synthetic data — registration → enrollment → check-ins → proposal → unlock.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Inter"/>
              </a:defRPr>
            </a:pPr>
            <a:r>
              <a:t>Key technical hurdles and how we overcame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64240" cy="109728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1755648" cy="274320"/>
          </a:xfrm>
          <a:prstGeom prst="roundRect">
            <a:avLst>
              <a:gd name="adj" fmla="val 5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t>Challenge: A trainee's next week must unlock only when both subscription is active AND coach has approved — but payments and program logic live in separate domains.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591056" cy="274320"/>
          </a:xfrm>
          <a:prstGeom prst="roundRect">
            <a:avLst>
              <a:gd name="adj" fmla="val 5000"/>
            </a:avLst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58568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Inter"/>
              </a:defRPr>
            </a:pPr>
            <a:r>
              <a:t>Solution: Implemented a composite unlock gate using a service-layer orchestrator that validates subscription status via Stripe API, then checks coach approval in the local database before returning a single boolean.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80360"/>
            <a:ext cx="11064240" cy="109728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953512"/>
            <a:ext cx="1755648" cy="274320"/>
          </a:xfrm>
          <a:prstGeom prst="roundRect">
            <a:avLst>
              <a:gd name="adj" fmla="val 5000"/>
            </a:avLst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t>Challenge: Mifflin-St Jeor BMR alone is insufficient — activity multipliers vary weekly based on actual training volume, not static self-reporting.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1591056" cy="274320"/>
          </a:xfrm>
          <a:prstGeom prst="roundRect">
            <a:avLst>
              <a:gd name="adj" fmla="val 5000"/>
            </a:avLst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93008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49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Inter"/>
              </a:defRPr>
            </a:pPr>
            <a:r>
              <a:t>Solution: Introduced a dynamic activity factor derived from the trainee's logged workout volume (sets × reps × weight) averaged over the current week, mapped to a precision scale of 1.2–1.9.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11064240" cy="109728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187952"/>
            <a:ext cx="1755648" cy="274320"/>
          </a:xfrm>
          <a:prstGeom prst="roundRect">
            <a:avLst>
              <a:gd name="adj" fmla="val 5000"/>
            </a:avLst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0624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t>Challenge: When a coach approves new macros, changes must cascade across all days of the upcoming week without overwriting manual per-day overrides.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09160"/>
            <a:ext cx="1591056" cy="274320"/>
          </a:xfrm>
          <a:prstGeom prst="roundRect">
            <a:avLst>
              <a:gd name="adj" fmla="val 5000"/>
            </a:avLst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27448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83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Inter"/>
              </a:defRPr>
            </a:pPr>
            <a:r>
              <a:t>Solution: Implemented a three-way merge strategy: coach-approved baseline → day-level overrides (stored as diffs) → final plan. Overrides survive re-propagation unless explicitly reset.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9240"/>
            <a:ext cx="11064240" cy="109728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5422392"/>
            <a:ext cx="1755648" cy="274320"/>
          </a:xfrm>
          <a:prstGeom prst="roundRect">
            <a:avLst>
              <a:gd name="adj" fmla="val 5000"/>
            </a:avLst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44068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15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t>Challenge: 8 team members across backend, frontend, and integration work — API contracts, shared types, and data shapes frequently drifted.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943600"/>
            <a:ext cx="1591056" cy="274320"/>
          </a:xfrm>
          <a:prstGeom prst="roundRect">
            <a:avLst>
              <a:gd name="adj" fmla="val 5000"/>
            </a:avLst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961888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E0E10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Inter"/>
              </a:defRPr>
            </a:pPr>
            <a:r>
              <a:t>Solution: Defined a shared TypeScript types package published as a git submodule. All C# DTOs and TypeScript interfaces generated from a single OpenAPI spec. Weekly integration syncs caught drift early.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Monetization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Inter"/>
              </a:defRPr>
            </a:pPr>
            <a:r>
              <a:t>Three revenue streams powering sustainable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438912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9D353"/>
                </a:solidFill>
                <a:latin typeface="Inter"/>
              </a:defRPr>
            </a:pPr>
            <a:r>
              <a:t>Membership</a:t>
            </a:r>
            <a:br/>
            <a:r>
              <a:t>Subscriptions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Monthly / quarterly / annual plans for trainees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Tiered pricing: Basic (workouts only), Pro (workouts + nutrition), Elite (full AI + 1:1 chat)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Recurring billing via Stripe with automated proration and dunning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566160" cy="438912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8ADD"/>
                </a:solidFill>
                <a:latin typeface="Inter"/>
              </a:defRPr>
            </a:pPr>
            <a:r>
              <a:t>Coach</a:t>
            </a:r>
            <a:br/>
            <a:r>
              <a:t>Commissions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Platform takes a percentage (15–25%) of coach service fees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Coaches set their own rates; platform handles invoicing and payouts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Weekly commission reports with Stripe Connect payout automation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566160" cy="438912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9F27"/>
                </a:solidFill>
                <a:latin typeface="Inter"/>
              </a:defRPr>
            </a:pPr>
            <a:r>
              <a:t>Future:</a:t>
            </a:r>
            <a:br/>
            <a:r>
              <a:t>E-Commerce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In-app supplement store with affiliate partnerships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Premium workout programs &amp; nutrition templates available for purchase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Branded merchandise and equipment partnerships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66160" cy="50292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9D353"/>
                </a:solidFill>
                <a:latin typeface="Inter"/>
              </a:defRPr>
            </a:pPr>
            <a:r>
              <a:t>PHASE 1</a:t>
            </a:r>
            <a:br/>
            <a:r>
              <a:t>✓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Core platform with 3 role-based portals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JWT authentication &amp; RBAC authorization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Stripe subscription &amp; commission payments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Workout builder &amp; nutrition plan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AI proposal engine for macro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SignalR real-time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Week-unlock progression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Admin content libraries &amp;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566160" cy="50292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54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78ADD"/>
                </a:solidFill>
                <a:latin typeface="Inter"/>
              </a:defRPr>
            </a:pPr>
            <a:r>
              <a:t>PHASE 2</a:t>
            </a:r>
            <a:br/>
            <a:r>
              <a:t>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AI chatbot integration for instant trainee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E-commerce module for supplements &amp; programs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Advanced analytics dashboard with coach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Group training &amp; class scheduling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Multi-language support (Arabic / English)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371600"/>
            <a:ext cx="3566160" cy="50292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554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9F27"/>
                </a:solidFill>
                <a:latin typeface="Inter"/>
              </a:defRPr>
            </a:pPr>
            <a:r>
              <a:t>PHASE 3</a:t>
            </a:r>
            <a:br/>
            <a:r>
              <a:t>FUTURE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Mobile application (React Native)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Gym equipment &amp; wearable API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Barcode scanning for nutrition logging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Video exercise demonstration library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• Social features — challenges, leaderboards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Team &amp; Closing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118872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508760"/>
            <a:ext cx="109728" cy="109728"/>
          </a:xfrm>
          <a:prstGeom prst="ellipse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Mohamed Osamy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Inter"/>
              </a:defRPr>
            </a:pPr>
            <a:r>
              <a:t>Backend Architecture</a:t>
            </a:r>
            <a:br/>
            <a:r>
              <a:t>&amp; Proposal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560320" cy="118872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20440" y="1508760"/>
            <a:ext cx="109728" cy="109728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463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Ahmed Sayed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7830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Inter"/>
              </a:defRPr>
            </a:pPr>
            <a:r>
              <a:t>Authentication</a:t>
            </a:r>
            <a:br/>
            <a:r>
              <a:t>&amp; Security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560320" cy="118872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63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Esraa Khamis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Inter"/>
              </a:defRPr>
            </a:pPr>
            <a:r>
              <a:t>Nutrition Plan</a:t>
            </a:r>
            <a:br/>
            <a:r>
              <a:t>System (Backend)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71600"/>
            <a:ext cx="2560320" cy="118872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89720" y="1508760"/>
            <a:ext cx="109728" cy="109728"/>
          </a:xfrm>
          <a:prstGeom prst="ellipse">
            <a:avLst/>
          </a:prstGeom>
          <a:solidFill>
            <a:srgbClr val="E06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463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Ahmed AbdelFattah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7830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Inter"/>
              </a:defRPr>
            </a:pPr>
            <a:r>
              <a:t>Workout Program</a:t>
            </a:r>
            <a:br/>
            <a:r>
              <a:t>Builder (Backend)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43200"/>
            <a:ext cx="2560320" cy="118872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2880360"/>
            <a:ext cx="109728" cy="109728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834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Khaled Ayman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1546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Inter"/>
              </a:defRPr>
            </a:pPr>
            <a:r>
              <a:t>Frontend —</a:t>
            </a:r>
            <a:br/>
            <a:r>
              <a:t>Coach Portal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2743200"/>
            <a:ext cx="2560320" cy="118872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20440" y="2880360"/>
            <a:ext cx="109728" cy="109728"/>
          </a:xfrm>
          <a:prstGeom prst="ellipse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2834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Mohamed Akram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1546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Inter"/>
              </a:defRPr>
            </a:pPr>
            <a:r>
              <a:t>Frontend —</a:t>
            </a:r>
            <a:br/>
            <a:r>
              <a:t>Trainee Portal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743200"/>
            <a:ext cx="2560320" cy="118872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55080" y="2880360"/>
            <a:ext cx="109728" cy="109728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834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Kholoud Ibrahim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1546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Inter"/>
              </a:defRPr>
            </a:pPr>
            <a:r>
              <a:t>Frontend — Admin</a:t>
            </a:r>
            <a:br/>
            <a:r>
              <a:t>Portal &amp; UI System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2743200"/>
            <a:ext cx="2560320" cy="118872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89720" y="2880360"/>
            <a:ext cx="109728" cy="109728"/>
          </a:xfrm>
          <a:prstGeom prst="ellipse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2834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t>Khaled Ibrahim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1546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Inter"/>
              </a:defRPr>
            </a:pPr>
            <a:r>
              <a:t>SignalR Chat</a:t>
            </a:r>
            <a:br/>
            <a:r>
              <a:t>&amp; Payments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0" y="4389120"/>
            <a:ext cx="9418320" cy="109728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37360" y="45720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39D353"/>
                </a:solidFill>
                <a:latin typeface="Inter"/>
              </a:defRPr>
            </a:pPr>
            <a:r>
              <a:t>"Building the future of connected fitness — one macro, one workout, one conversation at a time."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669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Thank You — Questions?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Inter"/>
              </a:defRPr>
            </a:pPr>
            <a:r>
              <a:t>Supervisors: Dr. Amal AbdelAzim  ·  Eng. Nehad AbdelRahman     |     Faculty of Computers &amp; AI, Assiut National University     |   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